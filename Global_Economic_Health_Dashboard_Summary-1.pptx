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86" r:id="rId1"/>
  </p:sldMasterIdLst>
  <p:notesMasterIdLst>
    <p:notesMasterId r:id="rId10"/>
  </p:notesMasterIdLst>
  <p:sldIdLst>
    <p:sldId id="262" r:id="rId2"/>
    <p:sldId id="263" r:id="rId3"/>
    <p:sldId id="264" r:id="rId4"/>
    <p:sldId id="258" r:id="rId5"/>
    <p:sldId id="257" r:id="rId6"/>
    <p:sldId id="259" r:id="rId7"/>
    <p:sldId id="256" r:id="rId8"/>
    <p:sldId id="261"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0AAC47-CD23-46BC-9177-6CCE8360CA27}" type="datetimeFigureOut">
              <a:rPr lang="en-IN" smtClean="0"/>
              <a:t>03-01-2026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63B203-9835-4D44-8C95-1356C162420D}" type="slidenum">
              <a:rPr lang="en-IN" smtClean="0"/>
              <a:t>‹#›</a:t>
            </a:fld>
            <a:endParaRPr lang="en-IN"/>
          </a:p>
        </p:txBody>
      </p:sp>
    </p:spTree>
    <p:extLst>
      <p:ext uri="{BB962C8B-B14F-4D97-AF65-F5344CB8AC3E}">
        <p14:creationId xmlns:p14="http://schemas.microsoft.com/office/powerpoint/2010/main" val="164744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63B203-9835-4D44-8C95-1356C162420D}" type="slidenum">
              <a:rPr lang="en-IN" smtClean="0"/>
              <a:t>4</a:t>
            </a:fld>
            <a:endParaRPr lang="en-IN"/>
          </a:p>
        </p:txBody>
      </p:sp>
    </p:spTree>
    <p:extLst>
      <p:ext uri="{BB962C8B-B14F-4D97-AF65-F5344CB8AC3E}">
        <p14:creationId xmlns:p14="http://schemas.microsoft.com/office/powerpoint/2010/main" val="2654094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22363"/>
            <a:ext cx="7773308"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685347" y="3602038"/>
            <a:ext cx="777330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9354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834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39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70244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5427" y="2088320"/>
            <a:ext cx="3600326"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346" y="2912232"/>
            <a:ext cx="3830406"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9230" y="2088320"/>
            <a:ext cx="3591437"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912232"/>
            <a:ext cx="382151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118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3340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3634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7005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16760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49932" y="758881"/>
            <a:ext cx="2966938"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971800"/>
            <a:ext cx="4171242"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2271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74499"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4820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23184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5" y="4204821"/>
            <a:ext cx="776532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0" name="TextBox 9"/>
          <p:cNvSpPr txBox="1"/>
          <p:nvPr/>
        </p:nvSpPr>
        <p:spPr>
          <a:xfrm>
            <a:off x="505245" y="641749"/>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46721" y="3073376"/>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30935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6066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911624"/>
            <a:ext cx="2474217"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3659" y="2911624"/>
            <a:ext cx="247486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2260" y="2911624"/>
            <a:ext cx="2468408"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477699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989147"/>
            <a:ext cx="2474216"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19015" y="2092235"/>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7" y="4565409"/>
            <a:ext cx="2474216"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26" y="3989147"/>
            <a:ext cx="2474237"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26747" y="2092235"/>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565408"/>
            <a:ext cx="2475252"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80067" y="3989147"/>
            <a:ext cx="246742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114603" y="2092235"/>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973" y="4565410"/>
            <a:ext cx="2470694" cy="122579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994226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69188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4701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609601"/>
            <a:ext cx="776532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2096064"/>
            <a:ext cx="776532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1/3/2026</a:t>
            </a:fld>
            <a:endParaRPr lang="en-US"/>
          </a:p>
        </p:txBody>
      </p:sp>
      <p:sp>
        <p:nvSpPr>
          <p:cNvPr id="5" name="Footer Placeholder 4"/>
          <p:cNvSpPr>
            <a:spLocks noGrp="1"/>
          </p:cNvSpPr>
          <p:nvPr>
            <p:ph type="ftr" sz="quarter" idx="3"/>
          </p:nvPr>
        </p:nvSpPr>
        <p:spPr>
          <a:xfrm>
            <a:off x="685346" y="5883276"/>
            <a:ext cx="5004649"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52224762"/>
      </p:ext>
    </p:extLst>
  </p:cSld>
  <p:clrMap bg1="dk1" tx1="lt1" bg2="dk2" tx2="lt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 id="2147484002" r:id="rId16"/>
    <p:sldLayoutId id="2147484003"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AA193-ED13-87D7-6F8B-6F949BEBD388}"/>
              </a:ext>
            </a:extLst>
          </p:cNvPr>
          <p:cNvSpPr>
            <a:spLocks noGrp="1"/>
          </p:cNvSpPr>
          <p:nvPr>
            <p:ph type="title"/>
          </p:nvPr>
        </p:nvSpPr>
        <p:spPr>
          <a:xfrm>
            <a:off x="324465" y="324464"/>
            <a:ext cx="8917858" cy="3411793"/>
          </a:xfrm>
        </p:spPr>
        <p:txBody>
          <a:bodyPr>
            <a:normAutofit/>
          </a:bodyPr>
          <a:lstStyle/>
          <a:p>
            <a:pPr algn="ctr"/>
            <a:r>
              <a:rPr lang="en-US" sz="3600" dirty="0"/>
              <a:t>GLOBAL ECNOMIC HELTH ANALYISIS</a:t>
            </a:r>
            <a:endParaRPr lang="en-IN" sz="3600" dirty="0"/>
          </a:p>
        </p:txBody>
      </p:sp>
      <p:sp>
        <p:nvSpPr>
          <p:cNvPr id="3" name="Content Placeholder 2">
            <a:extLst>
              <a:ext uri="{FF2B5EF4-FFF2-40B4-BE49-F238E27FC236}">
                <a16:creationId xmlns:a16="http://schemas.microsoft.com/office/drawing/2014/main" id="{FAD34959-0DDD-228B-2CD3-648B3E5464CA}"/>
              </a:ext>
            </a:extLst>
          </p:cNvPr>
          <p:cNvSpPr>
            <a:spLocks noGrp="1"/>
          </p:cNvSpPr>
          <p:nvPr>
            <p:ph idx="1"/>
          </p:nvPr>
        </p:nvSpPr>
        <p:spPr>
          <a:xfrm>
            <a:off x="685346" y="2998838"/>
            <a:ext cx="7765322" cy="2792361"/>
          </a:xfrm>
        </p:spPr>
        <p:txBody>
          <a:bodyPr/>
          <a:lstStyle/>
          <a:p>
            <a:pPr marL="0" indent="0" algn="ctr">
              <a:buNone/>
            </a:pPr>
            <a:r>
              <a:rPr lang="en-US" sz="2400" b="1" dirty="0">
                <a:latin typeface="Book Antiqua" panose="02040602050305030304" pitchFamily="18" charset="0"/>
              </a:rPr>
              <a:t>ELEVATE LABS</a:t>
            </a:r>
          </a:p>
          <a:p>
            <a:pPr marL="0" indent="0" algn="ctr">
              <a:buNone/>
            </a:pPr>
            <a:r>
              <a:rPr lang="en-US" b="1" dirty="0">
                <a:latin typeface="Book Antiqua" panose="02040602050305030304" pitchFamily="18" charset="0"/>
              </a:rPr>
              <a:t> </a:t>
            </a:r>
            <a:r>
              <a:rPr lang="en-US" sz="1800" b="1" dirty="0">
                <a:latin typeface="Book Antiqua" panose="02040602050305030304" pitchFamily="18" charset="0"/>
              </a:rPr>
              <a:t>Anila.AN                     </a:t>
            </a:r>
          </a:p>
          <a:p>
            <a:pPr marL="0" indent="0" algn="ctr">
              <a:buNone/>
            </a:pPr>
            <a:r>
              <a:rPr lang="en-US" sz="1800" dirty="0"/>
              <a:t>                  </a:t>
            </a:r>
          </a:p>
          <a:p>
            <a:pPr marL="0" indent="0">
              <a:buNone/>
            </a:pPr>
            <a:r>
              <a:rPr lang="en-US" dirty="0"/>
              <a:t>                      </a:t>
            </a:r>
          </a:p>
          <a:p>
            <a:pPr marL="0" indent="0" algn="ctr">
              <a:buNone/>
            </a:pPr>
            <a:r>
              <a:rPr lang="en-US" dirty="0"/>
              <a:t>                          </a:t>
            </a:r>
            <a:endParaRPr lang="en-IN" dirty="0"/>
          </a:p>
        </p:txBody>
      </p:sp>
    </p:spTree>
    <p:extLst>
      <p:ext uri="{BB962C8B-B14F-4D97-AF65-F5344CB8AC3E}">
        <p14:creationId xmlns:p14="http://schemas.microsoft.com/office/powerpoint/2010/main" val="4000282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0E373-9ED4-FB5E-1CD0-0E86B25E8052}"/>
              </a:ext>
            </a:extLst>
          </p:cNvPr>
          <p:cNvSpPr>
            <a:spLocks noGrp="1"/>
          </p:cNvSpPr>
          <p:nvPr>
            <p:ph type="title"/>
          </p:nvPr>
        </p:nvSpPr>
        <p:spPr/>
        <p:txBody>
          <a:bodyPr/>
          <a:lstStyle/>
          <a:p>
            <a:r>
              <a:rPr lang="en-US" dirty="0"/>
              <a:t>OVERVIEW</a:t>
            </a:r>
            <a:endParaRPr lang="en-IN" dirty="0"/>
          </a:p>
        </p:txBody>
      </p:sp>
      <p:sp>
        <p:nvSpPr>
          <p:cNvPr id="3" name="Content Placeholder 2">
            <a:extLst>
              <a:ext uri="{FF2B5EF4-FFF2-40B4-BE49-F238E27FC236}">
                <a16:creationId xmlns:a16="http://schemas.microsoft.com/office/drawing/2014/main" id="{7660AB39-2BA5-5AEA-2961-E07723ACDCA1}"/>
              </a:ext>
            </a:extLst>
          </p:cNvPr>
          <p:cNvSpPr>
            <a:spLocks noGrp="1"/>
          </p:cNvSpPr>
          <p:nvPr>
            <p:ph idx="1"/>
          </p:nvPr>
        </p:nvSpPr>
        <p:spPr/>
        <p:txBody>
          <a:bodyPr/>
          <a:lstStyle/>
          <a:p>
            <a:pPr marL="0" indent="0">
              <a:buNone/>
            </a:pPr>
            <a:r>
              <a:rPr lang="en-US" dirty="0"/>
              <a:t>The GDP trend chart displays growth percent changes for multiple countries over time. Data points appear clustered, showing minor fluctuations around zero, with some countries showing slight positive or negative growth</a:t>
            </a:r>
            <a:endParaRPr lang="en-IN" dirty="0"/>
          </a:p>
        </p:txBody>
      </p:sp>
    </p:spTree>
    <p:extLst>
      <p:ext uri="{BB962C8B-B14F-4D97-AF65-F5344CB8AC3E}">
        <p14:creationId xmlns:p14="http://schemas.microsoft.com/office/powerpoint/2010/main" val="217094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E3DC3-8FBF-9FCC-66F4-DD16B8CDC32D}"/>
              </a:ext>
            </a:extLst>
          </p:cNvPr>
          <p:cNvSpPr>
            <a:spLocks noGrp="1"/>
          </p:cNvSpPr>
          <p:nvPr>
            <p:ph type="title"/>
          </p:nvPr>
        </p:nvSpPr>
        <p:spPr/>
        <p:txBody>
          <a:bodyPr/>
          <a:lstStyle/>
          <a:p>
            <a:r>
              <a:rPr lang="en-US" dirty="0">
                <a:latin typeface="Book Antiqua" panose="02040602050305030304" pitchFamily="18" charset="0"/>
              </a:rPr>
              <a:t>OBJECTIVES</a:t>
            </a:r>
            <a:endParaRPr lang="en-IN"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AA5335ED-D1B1-85B3-390B-0B6ABB4A63BA}"/>
              </a:ext>
            </a:extLst>
          </p:cNvPr>
          <p:cNvSpPr>
            <a:spLocks noGrp="1"/>
          </p:cNvSpPr>
          <p:nvPr>
            <p:ph idx="1"/>
          </p:nvPr>
        </p:nvSpPr>
        <p:spPr>
          <a:xfrm>
            <a:off x="521110" y="1935922"/>
            <a:ext cx="7929558" cy="3855278"/>
          </a:xfrm>
        </p:spPr>
        <p:txBody>
          <a:bodyPr/>
          <a:lstStyle/>
          <a:p>
            <a:r>
              <a:rPr lang="en-US" dirty="0"/>
              <a:t>To track the two most critical "health vitals" of the world economy: Real GDP Growth and Consumer Price Inflation.</a:t>
            </a:r>
          </a:p>
          <a:p>
            <a:r>
              <a:rPr lang="en-US" dirty="0"/>
              <a:t>To geographically pinpoint which parts of the world are driving growth and which are lagging.</a:t>
            </a:r>
          </a:p>
          <a:p>
            <a:r>
              <a:rPr lang="en-US" dirty="0"/>
              <a:t>To show how current economic indicators compare to the volatile "Post-Pandemic" recovery period (2021–2023) and what the forecasted trajectory looks like for 2024 and beyond.</a:t>
            </a:r>
            <a:endParaRPr lang="en-IN" dirty="0"/>
          </a:p>
        </p:txBody>
      </p:sp>
    </p:spTree>
    <p:extLst>
      <p:ext uri="{BB962C8B-B14F-4D97-AF65-F5344CB8AC3E}">
        <p14:creationId xmlns:p14="http://schemas.microsoft.com/office/powerpoint/2010/main" val="2122000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normAutofit/>
          </a:bodyPr>
          <a:lstStyle/>
          <a:p>
            <a:pPr algn="l"/>
            <a:r>
              <a:rPr sz="2400" dirty="0">
                <a:latin typeface="Book Antiqua" panose="02040602050305030304" pitchFamily="18" charset="0"/>
              </a:rPr>
              <a:t>Average GDP Card</a:t>
            </a:r>
          </a:p>
        </p:txBody>
      </p:sp>
      <p:sp>
        <p:nvSpPr>
          <p:cNvPr id="3" name="Content Placeholder 2"/>
          <p:cNvSpPr>
            <a:spLocks noGrp="1"/>
          </p:cNvSpPr>
          <p:nvPr>
            <p:ph idx="1"/>
          </p:nvPr>
        </p:nvSpPr>
        <p:spPr>
          <a:xfrm>
            <a:off x="609600" y="1622323"/>
            <a:ext cx="7841068" cy="4168877"/>
          </a:xfrm>
        </p:spPr>
        <p:txBody>
          <a:bodyPr>
            <a:normAutofit/>
          </a:bodyPr>
          <a:lstStyle/>
          <a:p>
            <a:pPr marL="0" indent="0">
              <a:buNone/>
            </a:pPr>
            <a:r>
              <a:rPr sz="1800" dirty="0"/>
              <a:t>• Average GDP (Selected Countries): 2.415 Trillion USD</a:t>
            </a:r>
          </a:p>
          <a:p>
            <a:pPr marL="0" indent="0">
              <a:buNone/>
            </a:pPr>
            <a:r>
              <a:rPr sz="1800" dirty="0"/>
              <a:t>• Useful for comparing country performance with global average.</a:t>
            </a:r>
          </a:p>
        </p:txBody>
      </p:sp>
      <p:sp>
        <p:nvSpPr>
          <p:cNvPr id="5" name="TextBox 4">
            <a:extLst>
              <a:ext uri="{FF2B5EF4-FFF2-40B4-BE49-F238E27FC236}">
                <a16:creationId xmlns:a16="http://schemas.microsoft.com/office/drawing/2014/main" id="{3402C2E4-E11C-3F7D-A798-2973F2BDB757}"/>
              </a:ext>
            </a:extLst>
          </p:cNvPr>
          <p:cNvSpPr txBox="1"/>
          <p:nvPr/>
        </p:nvSpPr>
        <p:spPr>
          <a:xfrm>
            <a:off x="747250" y="2717811"/>
            <a:ext cx="4572000" cy="461665"/>
          </a:xfrm>
          <a:prstGeom prst="rect">
            <a:avLst/>
          </a:prstGeom>
          <a:noFill/>
        </p:spPr>
        <p:txBody>
          <a:bodyPr wrap="square">
            <a:spAutoFit/>
          </a:bodyPr>
          <a:lstStyle/>
          <a:p>
            <a:r>
              <a:rPr lang="en-IN" sz="2400" b="1" dirty="0">
                <a:latin typeface="Book Antiqua" panose="02040602050305030304" pitchFamily="18" charset="0"/>
              </a:rPr>
              <a:t>GDP Trend (2024</a:t>
            </a:r>
            <a:r>
              <a:rPr lang="en-IN" sz="2000" dirty="0"/>
              <a:t>)</a:t>
            </a:r>
          </a:p>
        </p:txBody>
      </p:sp>
      <p:sp>
        <p:nvSpPr>
          <p:cNvPr id="7" name="TextBox 6">
            <a:extLst>
              <a:ext uri="{FF2B5EF4-FFF2-40B4-BE49-F238E27FC236}">
                <a16:creationId xmlns:a16="http://schemas.microsoft.com/office/drawing/2014/main" id="{66734F2A-82D5-6060-27D9-363C21485F04}"/>
              </a:ext>
            </a:extLst>
          </p:cNvPr>
          <p:cNvSpPr txBox="1"/>
          <p:nvPr/>
        </p:nvSpPr>
        <p:spPr>
          <a:xfrm>
            <a:off x="644170" y="3515841"/>
            <a:ext cx="7384027" cy="646331"/>
          </a:xfrm>
          <a:prstGeom prst="rect">
            <a:avLst/>
          </a:prstGeom>
          <a:noFill/>
        </p:spPr>
        <p:txBody>
          <a:bodyPr wrap="square">
            <a:spAutoFit/>
          </a:bodyPr>
          <a:lstStyle/>
          <a:p>
            <a:r>
              <a:rPr lang="en-US" dirty="0"/>
              <a:t>• GDP growth rates range from -2% to 6% across countries.</a:t>
            </a:r>
          </a:p>
          <a:p>
            <a:r>
              <a:rPr lang="en-US" dirty="0"/>
              <a:t>• Indicates moderate and stable economic growth globally.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Average Global GDP</a:t>
            </a:r>
          </a:p>
        </p:txBody>
      </p:sp>
      <p:sp>
        <p:nvSpPr>
          <p:cNvPr id="3" name="Content Placeholder 2"/>
          <p:cNvSpPr>
            <a:spLocks noGrp="1"/>
          </p:cNvSpPr>
          <p:nvPr>
            <p:ph idx="1"/>
          </p:nvPr>
        </p:nvSpPr>
        <p:spPr/>
        <p:txBody>
          <a:bodyPr/>
          <a:lstStyle/>
          <a:p>
            <a:r>
              <a:t>• Average Global GDP: 11.02 Trillion USD</a:t>
            </a:r>
          </a:p>
          <a:p>
            <a:r>
              <a:t>• Indicates overall global economic productivity.</a:t>
            </a:r>
          </a:p>
          <a:p>
            <a:r>
              <a:t>• Higher values show stronger economies.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latin typeface="Book Antiqua" panose="02040602050305030304" pitchFamily="18" charset="0"/>
              </a:rPr>
              <a:t>Gold Price by Country</a:t>
            </a:r>
          </a:p>
        </p:txBody>
      </p:sp>
      <p:sp>
        <p:nvSpPr>
          <p:cNvPr id="3" name="Content Placeholder 2"/>
          <p:cNvSpPr>
            <a:spLocks noGrp="1"/>
          </p:cNvSpPr>
          <p:nvPr>
            <p:ph idx="1"/>
          </p:nvPr>
        </p:nvSpPr>
        <p:spPr/>
        <p:txBody>
          <a:bodyPr/>
          <a:lstStyle/>
          <a:p>
            <a:pPr marL="0" indent="0">
              <a:buNone/>
            </a:pPr>
            <a:r>
              <a:rPr dirty="0"/>
              <a:t>• Shows average gold price per ounce across countries.</a:t>
            </a:r>
          </a:p>
          <a:p>
            <a:pPr marL="0" indent="0">
              <a:buNone/>
            </a:pPr>
            <a:r>
              <a:rPr dirty="0"/>
              <a:t>• Countries like USA, UAE, Switzerland show higher gold prices.</a:t>
            </a:r>
          </a:p>
          <a:p>
            <a:pPr marL="0" indent="0">
              <a:buNone/>
            </a:pPr>
            <a:r>
              <a:rPr dirty="0"/>
              <a:t>• Reflects commodity price variations by region.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Global Economic Health Dashboard</a:t>
            </a:r>
          </a:p>
        </p:txBody>
      </p:sp>
      <p:sp>
        <p:nvSpPr>
          <p:cNvPr id="3" name="Content Placeholder 2"/>
          <p:cNvSpPr>
            <a:spLocks noGrp="1"/>
          </p:cNvSpPr>
          <p:nvPr>
            <p:ph idx="1"/>
          </p:nvPr>
        </p:nvSpPr>
        <p:spPr/>
        <p:txBody>
          <a:bodyPr/>
          <a:lstStyle/>
          <a:p>
            <a:pPr marL="0" indent="0">
              <a:buNone/>
            </a:pPr>
            <a:endParaRPr dirty="0"/>
          </a:p>
        </p:txBody>
      </p:sp>
      <p:pic>
        <p:nvPicPr>
          <p:cNvPr id="5" name="Picture 4">
            <a:extLst>
              <a:ext uri="{FF2B5EF4-FFF2-40B4-BE49-F238E27FC236}">
                <a16:creationId xmlns:a16="http://schemas.microsoft.com/office/drawing/2014/main" id="{25B8925D-507F-BB72-F44F-766703768F15}"/>
              </a:ext>
            </a:extLst>
          </p:cNvPr>
          <p:cNvPicPr>
            <a:picLocks noChangeAspect="1"/>
          </p:cNvPicPr>
          <p:nvPr/>
        </p:nvPicPr>
        <p:blipFill>
          <a:blip r:embed="rId2"/>
          <a:stretch>
            <a:fillRect/>
          </a:stretch>
        </p:blipFill>
        <p:spPr>
          <a:xfrm>
            <a:off x="983226" y="2096065"/>
            <a:ext cx="7030064" cy="42752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 Conclusion</a:t>
            </a:r>
          </a:p>
        </p:txBody>
      </p:sp>
      <p:sp>
        <p:nvSpPr>
          <p:cNvPr id="3" name="Content Placeholder 2"/>
          <p:cNvSpPr>
            <a:spLocks noGrp="1"/>
          </p:cNvSpPr>
          <p:nvPr>
            <p:ph idx="1"/>
          </p:nvPr>
        </p:nvSpPr>
        <p:spPr/>
        <p:txBody>
          <a:bodyPr/>
          <a:lstStyle/>
          <a:p>
            <a:pPr marL="0" indent="0">
              <a:buNone/>
            </a:pPr>
            <a:r>
              <a:rPr dirty="0"/>
              <a:t>• Global GDP remains stable.</a:t>
            </a:r>
          </a:p>
          <a:p>
            <a:pPr marL="0" indent="0">
              <a:buNone/>
            </a:pPr>
            <a:r>
              <a:rPr dirty="0"/>
              <a:t>• Gold price variations show regional economic differences.</a:t>
            </a:r>
          </a:p>
          <a:p>
            <a:pPr marL="0" indent="0">
              <a:buNone/>
            </a:pPr>
            <a:r>
              <a:rPr dirty="0"/>
              <a:t>• GDP trends indicate moderate global growth.</a:t>
            </a:r>
          </a:p>
          <a:p>
            <a:pPr marL="0" indent="0">
              <a:buNone/>
            </a:pPr>
            <a:r>
              <a:rPr dirty="0"/>
              <a:t>• Dashboard provides a clear view of economic health.</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6D8C60"/>
      </a:dk2>
      <a:lt2>
        <a:srgbClr val="B1D7A1"/>
      </a:lt2>
      <a:accent1>
        <a:srgbClr val="81B992"/>
      </a:accent1>
      <a:accent2>
        <a:srgbClr val="9ABC65"/>
      </a:accent2>
      <a:accent3>
        <a:srgbClr val="BDB564"/>
      </a:accent3>
      <a:accent4>
        <a:srgbClr val="BD8964"/>
      </a:accent4>
      <a:accent5>
        <a:srgbClr val="BD6466"/>
      </a:accent5>
      <a:accent6>
        <a:srgbClr val="64A4BD"/>
      </a:accent6>
      <a:hlink>
        <a:srgbClr val="8CCC71"/>
      </a:hlink>
      <a:folHlink>
        <a:srgbClr val="A4C795"/>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4539428D-6454-4FE6-B992-2D59F0AC2F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52</TotalTime>
  <Words>270</Words>
  <Application>Microsoft Office PowerPoint</Application>
  <PresentationFormat>On-screen Show (4:3)</PresentationFormat>
  <Paragraphs>33</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Book Antiqua</vt:lpstr>
      <vt:lpstr>Bookman Old Style</vt:lpstr>
      <vt:lpstr>Rockwell</vt:lpstr>
      <vt:lpstr>Damask</vt:lpstr>
      <vt:lpstr>GLOBAL ECNOMIC HELTH ANALYISIS</vt:lpstr>
      <vt:lpstr>OVERVIEW</vt:lpstr>
      <vt:lpstr>OBJECTIVES</vt:lpstr>
      <vt:lpstr>Average GDP Card</vt:lpstr>
      <vt:lpstr>Average Global GDP</vt:lpstr>
      <vt:lpstr>Gold Price by Country</vt:lpstr>
      <vt:lpstr>Global Economic Health Dashboard</vt:lpstr>
      <vt:lpstr> 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anila A N</cp:lastModifiedBy>
  <cp:revision>2</cp:revision>
  <dcterms:created xsi:type="dcterms:W3CDTF">2013-01-27T09:14:16Z</dcterms:created>
  <dcterms:modified xsi:type="dcterms:W3CDTF">2026-01-03T10:38:10Z</dcterms:modified>
  <cp:category/>
</cp:coreProperties>
</file>